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4" r:id="rId4"/>
    <p:sldId id="269" r:id="rId5"/>
    <p:sldId id="259" r:id="rId6"/>
    <p:sldId id="266" r:id="rId7"/>
    <p:sldId id="270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2EB46A-26D9-4B79-A0BA-94F0685D32D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A0B1D7-2D89-41AD-A35D-8CABD3C8F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75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20A89-1EA5-4B48-949C-8D49FA71E17A}" type="datetime1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A0E909-4676-4DFF-ACF3-65FD721A0C35}" type="datetime1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A0D50A7-FC51-45F0-ACE8-52BE692F1158}" type="datetime1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6EF69A-9B98-48A6-8714-D502F21C59AC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68901D-AE11-453B-BAB5-EBEBF3FD6D52}" type="datetime1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EFD338-D2AE-4808-B786-CD8FFD22129C}" type="datetime1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5FCE24-E184-4609-AA44-1D31475DE58F}" type="datetime1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2F83FF-62C9-4D61-84C4-3D92576553DA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872C22-043C-453D-BC8F-50D3C2C8D791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0F6FA3-7D56-4F82-BC8C-4558DAB8F5A1}" type="datetime1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66328A-B452-492B-B140-676AC5719AC5}" type="datetime1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4475" y="1194586"/>
            <a:ext cx="9163372" cy="2316480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Operating system and system programming (25CS2104E)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3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Signal-Based Process Communication and Control System</a:t>
            </a:r>
            <a:endParaRPr lang="en-US" sz="32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40015" y="4643428"/>
            <a:ext cx="5384800" cy="1913890"/>
          </a:xfrm>
        </p:spPr>
        <p:txBody>
          <a:bodyPr/>
          <a:lstStyle/>
          <a:p>
            <a:pPr algn="just"/>
            <a:r>
              <a:rPr lang="en-US" sz="1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  <a:endParaRPr lang="en-US" sz="1800" dirty="0"/>
          </a:p>
          <a:p>
            <a:pPr algn="just"/>
            <a:r>
              <a:rPr lang="en-US" sz="1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               Roll Number</a:t>
            </a:r>
            <a:endParaRPr lang="en-US" sz="1800" dirty="0"/>
          </a:p>
          <a:p>
            <a:pPr algn="just"/>
            <a:r>
              <a:rPr lang="en-US" sz="1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R.Radhakrishna        2520090063</a:t>
            </a:r>
          </a:p>
          <a:p>
            <a:pPr algn="just"/>
            <a:r>
              <a:rPr lang="en-US" sz="1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R.Jagadeesh               2520090030</a:t>
            </a:r>
          </a:p>
          <a:p>
            <a:pPr algn="just"/>
            <a:r>
              <a:rPr lang="en-US" sz="1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P.Vedadri                     2520090060</a:t>
            </a:r>
            <a:endParaRPr lang="en-US" sz="1800" dirty="0"/>
          </a:p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F78912-86E2-3DFA-A0B9-1E6CB3A9493D}"/>
              </a:ext>
            </a:extLst>
          </p:cNvPr>
          <p:cNvSpPr txBox="1"/>
          <p:nvPr/>
        </p:nvSpPr>
        <p:spPr>
          <a:xfrm>
            <a:off x="167185" y="4846321"/>
            <a:ext cx="4391167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2400" kern="100" dirty="0"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/>
            <a:endParaRPr lang="en-US" sz="2200" b="1" dirty="0">
              <a:solidFill>
                <a:schemeClr val="tx1"/>
              </a:solidFill>
            </a:endParaRPr>
          </a:p>
          <a:p>
            <a:pPr algn="ctr"/>
            <a:r>
              <a:rPr lang="en-US" sz="2200" b="1" dirty="0">
                <a:solidFill>
                  <a:schemeClr val="tx1"/>
                </a:solidFill>
              </a:rPr>
              <a:t>Raghupathi M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CSE Department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B79BAB-0195-236A-70B8-3DECB286B2B5}"/>
              </a:ext>
            </a:extLst>
          </p:cNvPr>
          <p:cNvSpPr txBox="1"/>
          <p:nvPr/>
        </p:nvSpPr>
        <p:spPr>
          <a:xfrm>
            <a:off x="3238691" y="3593918"/>
            <a:ext cx="60937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Review-I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447393" y="1965213"/>
            <a:ext cx="6936386" cy="37352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7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7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7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  <a:cs typeface="Gautami" panose="020B0502040204020203" pitchFamily="34" charset="0"/>
              </a:rPr>
              <a:t>System Architecture</a:t>
            </a:r>
            <a:endParaRPr lang="en-IN" sz="3200" b="0" i="0" u="none" strike="noStrike" dirty="0">
              <a:effectLst/>
              <a:latin typeface="Arial" panose="020B07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7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endParaRPr lang="en-IN" dirty="0"/>
          </a:p>
        </p:txBody>
      </p:sp>
      <p:sp>
        <p:nvSpPr>
          <p:cNvPr id="8" name="Rectangle: Rounded Corners 7"/>
          <p:cNvSpPr/>
          <p:nvPr/>
        </p:nvSpPr>
        <p:spPr>
          <a:xfrm>
            <a:off x="2939950" y="255442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131928" y="221672"/>
            <a:ext cx="60503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1029D6-E146-55B7-6FE6-DD167709D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79801-AD4A-4368-9C25-F8FFDCCA9D13}" type="datetime1">
              <a:rPr lang="en-US" smtClean="0"/>
              <a:t>10/30/2026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031D3A-8519-E357-DDA9-EAECFBBAE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0CFDE-CD93-201B-A399-23510E8ED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7AC3-148D-47E6-92EE-86CA146E5716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097D3-BC04-F1C9-00E9-94B0738C1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FFA837-8133-61DC-B35A-E9EC86EA72B8}"/>
              </a:ext>
            </a:extLst>
          </p:cNvPr>
          <p:cNvSpPr txBox="1"/>
          <p:nvPr/>
        </p:nvSpPr>
        <p:spPr>
          <a:xfrm>
            <a:off x="1709542" y="2644170"/>
            <a:ext cx="936573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distributed systems require efficient inter-process communication mechanisms to coordinate activities between multiple processes. This project aims to develop a Linux Signal-Based Process Communication and Control System that leverages POSIX signals for real-time process synchronization and control. The system addresses the challenge of managing multiple processes with varying computational loads and priorities while maintaining low-latency communication. Traditional IPC mechanisms like pipes and message queues introduce overhead;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E3377-AD48-C317-56EF-BB6DEA41C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E7DFF9B-AF13-3CBC-C2B1-8156A6C27ADB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2E30A3-627A-0C0D-8E68-FFD84EF51DAA}"/>
              </a:ext>
            </a:extLst>
          </p:cNvPr>
          <p:cNvSpPr txBox="1"/>
          <p:nvPr/>
        </p:nvSpPr>
        <p:spPr>
          <a:xfrm>
            <a:off x="2660072" y="221673"/>
            <a:ext cx="68718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E559BE-24A9-DD17-5994-3CA09176D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7AC3-148D-47E6-92EE-86CA146E5716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CD269-83F2-F4C5-3099-E35078586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43A8D5-D77A-A0BD-BEE5-85032950944B}"/>
              </a:ext>
            </a:extLst>
          </p:cNvPr>
          <p:cNvSpPr txBox="1"/>
          <p:nvPr/>
        </p:nvSpPr>
        <p:spPr>
          <a:xfrm>
            <a:off x="3068664" y="1159994"/>
            <a:ext cx="6540285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are Signals?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Signals are software interrupts that provide a way to handle asynchronous events. They are one of the oldest methods of IPC in Unix/Linux.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Concepts: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Signal: A notification sent to a process to indicate that an event has occurred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Signal Handler: A function that is called when a specific signal is received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Signal Mask: Blocks/unblocks specific signals from being delivered to a process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Common Signals Used: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SIGUSR1, SIGUSR2: User-defined signals for custom communication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SIGCHLD: Sent to parent when child process terminates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SIGTERM, SIGKILL: Process termination signals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Advantages of Signal-Based IPC: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Simple and lightweight mechanism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Widely supported in all Unix-like systems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Efficient for simple communication patterns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6184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751084" y="221615"/>
            <a:ext cx="7219270" cy="52959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3454904" y="221615"/>
            <a:ext cx="6374348" cy="6711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800" b="1" dirty="0">
                <a:solidFill>
                  <a:schemeClr val="bg1"/>
                </a:solidFill>
              </a:rPr>
              <a:t>Hardware and Software requirements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3754733" y="1253490"/>
            <a:ext cx="5774690" cy="36436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500" b="1" dirty="0"/>
              <a:t>List the Requirements in table format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4B27F7-CA90-4D59-F334-BDE7693B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03DE9-87EE-417A-AE3E-75342F0B996E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63280-B772-867A-6341-08A7DB8CC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0B12EF1-7836-95B4-F6DA-FA9CE6DAF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236041"/>
              </p:ext>
            </p:extLst>
          </p:nvPr>
        </p:nvGraphicFramePr>
        <p:xfrm>
          <a:off x="1363980" y="1837055"/>
          <a:ext cx="9403868" cy="3830648"/>
        </p:xfrm>
        <a:graphic>
          <a:graphicData uri="http://schemas.openxmlformats.org/drawingml/2006/table">
            <a:tbl>
              <a:tblPr/>
              <a:tblGrid>
                <a:gridCol w="2350967">
                  <a:extLst>
                    <a:ext uri="{9D8B030D-6E8A-4147-A177-3AD203B41FA5}">
                      <a16:colId xmlns:a16="http://schemas.microsoft.com/office/drawing/2014/main" val="1961477937"/>
                    </a:ext>
                  </a:extLst>
                </a:gridCol>
                <a:gridCol w="2350967">
                  <a:extLst>
                    <a:ext uri="{9D8B030D-6E8A-4147-A177-3AD203B41FA5}">
                      <a16:colId xmlns:a16="http://schemas.microsoft.com/office/drawing/2014/main" val="661016502"/>
                    </a:ext>
                  </a:extLst>
                </a:gridCol>
                <a:gridCol w="4701934">
                  <a:extLst>
                    <a:ext uri="{9D8B030D-6E8A-4147-A177-3AD203B41FA5}">
                      <a16:colId xmlns:a16="http://schemas.microsoft.com/office/drawing/2014/main" val="4187751309"/>
                    </a:ext>
                  </a:extLst>
                </a:gridCol>
              </a:tblGrid>
              <a:tr h="4788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Component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Requirement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Specification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5461619"/>
                  </a:ext>
                </a:extLst>
              </a:tr>
              <a:tr h="4788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Operating System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Linux Kernel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Linux 3.0+ (Ubuntu/CentOS)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2747906"/>
                  </a:ext>
                </a:extLst>
              </a:tr>
              <a:tr h="4788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Processor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CPU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Any x86/x64, 1 GHz+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5051385"/>
                  </a:ext>
                </a:extLst>
              </a:tr>
              <a:tr h="4788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RAM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Memory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Min 512 MB, Recommended 2 GB+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863"/>
                  </a:ext>
                </a:extLst>
              </a:tr>
              <a:tr h="4788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Compiler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GCC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GCC 4.8.5 or higher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3222877"/>
                  </a:ext>
                </a:extLst>
              </a:tr>
              <a:tr h="4788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Libraries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 Library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glibc 2.17+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3392149"/>
                  </a:ext>
                </a:extLst>
              </a:tr>
              <a:tr h="4788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Tools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Dev Tools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make, gdb, valgrind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5196113"/>
                  </a:ext>
                </a:extLst>
              </a:tr>
              <a:tr h="4788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IDE/Editor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Dev Environment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VS Code/Vim/Emacs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448215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220419" y="24346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877047" y="303028"/>
            <a:ext cx="68718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 System Architecture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0467B-10ED-0439-355C-AB546904D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60B09-1F77-4EDB-8151-1F057DCF6ADD}" type="datetime1">
              <a:rPr lang="en-US" smtClean="0"/>
              <a:t>10/30/2026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BC0F34-CBBC-C93D-878C-5E596F21D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368" y="972931"/>
            <a:ext cx="6383215" cy="56230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59AA00-B8E8-9CDC-B5A2-85F30C167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FCE24-E184-4609-AA44-1D31475DE58F}" type="datetime1">
              <a:rPr lang="en-US" smtClean="0"/>
              <a:t>10/30/2026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12ACD8-7FC1-B057-CEFC-1E366830B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7</a:t>
            </a:fld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26F6C5D-71C2-4294-638A-2A38E32519C5}"/>
              </a:ext>
            </a:extLst>
          </p:cNvPr>
          <p:cNvSpPr/>
          <p:nvPr/>
        </p:nvSpPr>
        <p:spPr>
          <a:xfrm>
            <a:off x="3220419" y="24346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2CC319-142A-B45E-8C92-A8349847FBE8}"/>
              </a:ext>
            </a:extLst>
          </p:cNvPr>
          <p:cNvSpPr txBox="1"/>
          <p:nvPr/>
        </p:nvSpPr>
        <p:spPr>
          <a:xfrm>
            <a:off x="2579644" y="1139126"/>
            <a:ext cx="767248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IN" sz="2000" b="1" dirty="0"/>
          </a:p>
          <a:p>
            <a:pPr lvl="0" algn="just"/>
            <a:r>
              <a:rPr lang="en-IN" sz="2000" dirty="0"/>
              <a:t>The </a:t>
            </a:r>
            <a:r>
              <a:rPr lang="en-IN" sz="2000" b="1" dirty="0"/>
              <a:t>Linux Signal-Based IPC System</a:t>
            </a:r>
            <a:r>
              <a:rPr lang="en-IN" sz="2000" dirty="0"/>
              <a:t> demonstrates how POSIX signals can be used for efficient </a:t>
            </a:r>
            <a:r>
              <a:rPr lang="en-IN" sz="2000" b="1" dirty="0"/>
              <a:t>inter-process communication and process control</a:t>
            </a:r>
            <a:r>
              <a:rPr lang="en-IN" sz="2000" dirty="0"/>
              <a:t>.</a:t>
            </a:r>
          </a:p>
          <a:p>
            <a:pPr lvl="0" algn="just"/>
            <a:r>
              <a:rPr lang="en-IN" sz="2000" dirty="0"/>
              <a:t>Signals such as </a:t>
            </a:r>
            <a:r>
              <a:rPr lang="en-IN" sz="2000" b="1" dirty="0"/>
              <a:t>SIGUSR1, SIGUSR2, and SIGALRM</a:t>
            </a:r>
            <a:r>
              <a:rPr lang="en-IN" sz="2000" dirty="0"/>
              <a:t> enable lightweight and event-driven communication between processes.</a:t>
            </a:r>
          </a:p>
          <a:p>
            <a:pPr lvl="0" algn="just"/>
            <a:r>
              <a:rPr lang="en-IN" sz="2000" dirty="0"/>
              <a:t>The system uses </a:t>
            </a:r>
            <a:r>
              <a:rPr lang="en-IN" sz="2000" b="1" dirty="0"/>
              <a:t>signal handlers, signal masking, and process synchronization</a:t>
            </a:r>
            <a:r>
              <a:rPr lang="en-IN" sz="2000" dirty="0"/>
              <a:t> to coordinate parent and child processes.</a:t>
            </a:r>
          </a:p>
          <a:p>
            <a:pPr lvl="0" algn="just"/>
            <a:r>
              <a:rPr lang="en-IN" sz="2000" dirty="0"/>
              <a:t>The </a:t>
            </a:r>
            <a:r>
              <a:rPr lang="en-IN" sz="2000" b="1" dirty="0"/>
              <a:t>master-slave architecture</a:t>
            </a:r>
            <a:r>
              <a:rPr lang="en-IN" sz="2000" dirty="0"/>
              <a:t> provides an effective approach for monitoring processes and managing their states.</a:t>
            </a:r>
          </a:p>
          <a:p>
            <a:pPr lvl="0" algn="just"/>
            <a:r>
              <a:rPr lang="en-IN" sz="2000" dirty="0"/>
              <a:t>This project provides practical understanding of </a:t>
            </a:r>
            <a:r>
              <a:rPr lang="en-IN" sz="2000" b="1" dirty="0"/>
              <a:t>Linux process management, signal delivery, IPC mechanisms, and low-level system programming</a:t>
            </a:r>
            <a:r>
              <a:rPr lang="en-IN" sz="2000" dirty="0"/>
              <a:t>.</a:t>
            </a:r>
          </a:p>
          <a:p>
            <a:pPr lvl="0" algn="just"/>
            <a:r>
              <a:rPr lang="en-IN" sz="2000" dirty="0"/>
              <a:t>Overall, signal-based IPC is a </a:t>
            </a:r>
            <a:r>
              <a:rPr lang="en-IN" sz="2000" b="1" dirty="0"/>
              <a:t>simple, lightweight, and efficient solution</a:t>
            </a:r>
            <a:r>
              <a:rPr lang="en-IN" sz="2000" dirty="0"/>
              <a:t> for real-time process coordination in Linux/POSIX systems.</a:t>
            </a:r>
          </a:p>
        </p:txBody>
      </p:sp>
    </p:spTree>
    <p:extLst>
      <p:ext uri="{BB962C8B-B14F-4D97-AF65-F5344CB8AC3E}">
        <p14:creationId xmlns:p14="http://schemas.microsoft.com/office/powerpoint/2010/main" val="2956931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864234-7A34-7521-498A-DD3F6E491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2186-ABE7-42AB-8003-2FA9F73CA34D}" type="datetime1">
              <a:rPr lang="en-US" smtClean="0"/>
              <a:t>10/30/2026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9A4F7-9EC8-2129-C8BB-C74E5E40C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479</Words>
  <Application>Microsoft Office PowerPoint</Application>
  <PresentationFormat>Widescreen</PresentationFormat>
  <Paragraphs>86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       Operating system and system programming (25CS2104E)  Linux Signal-Based Process Communication and Control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Rekapalli Jagadeesh</cp:lastModifiedBy>
  <cp:revision>25</cp:revision>
  <dcterms:created xsi:type="dcterms:W3CDTF">2026-08-31T05:18:20Z</dcterms:created>
  <dcterms:modified xsi:type="dcterms:W3CDTF">2026-10-30T08:57:15Z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2E321512259BCFD0FA0C956AC94F79BD_43</vt:lpwstr>
  </property>
  <property fmtid="{D5CDD505-2E9C-101B-9397-08002B2CF9AE}" pid="3" name="KSOProductBuildVer">
    <vt:lpwstr>1033-12.1.26050.26050</vt:lpwstr>
  </property>
</Properties>
</file>